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みなさん、こんにちは。Kirari-TokyoNodeBチームです。</a:t>
            </a:r>
          </a:p>
          <a:p/>
          <a:p>
            <a:r>
              <a:t>本日はお忙しい中、お越しいただきありがとうございます。</a:t>
            </a:r>
          </a:p>
          <a:p/>
          <a:p>
            <a:r>
              <a:t>私たちのプロダクト「ココロナビ」についてご紹介します。</a:t>
            </a:r>
          </a:p>
          <a:p/>
          <a:p>
            <a:r>
              <a:t>都民のメンタルヘルスとカウンセリングを、公的支援につなぐ。</a:t>
            </a:r>
          </a:p>
          <a:p>
            <a:r>
              <a:t>これが私たちのコンセプトです。</a:t>
            </a:r>
          </a:p>
          <a:p/>
          <a:p>
            <a:r>
              <a:t>不安や悩みを、ひとりで抱え込ませない。</a:t>
            </a:r>
          </a:p>
          <a:p>
            <a:r>
              <a:t>そんな東京を目指して、このプロジェクトに取り組みました。</a:t>
            </a:r>
          </a:p>
          <a:p/>
          <a:p>
            <a:r>
              <a:t>都知事杯オープンデータハッカソン2026、我们一起頑張ります。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まず、なぜこのプロダクトが必要なのか、課題について説明します。</a:t>
            </a:r>
          </a:p>
          <a:p/>
          <a:p>
            <a:r>
              <a:t>メンタルヘルスの相談先は、実はいろいろあります。</a:t>
            </a:r>
          </a:p>
          <a:p>
            <a:r>
              <a:t>就労相談、生活相談、心の相談——それぞれ別々の窓口が存在しています。</a:t>
            </a:r>
          </a:p>
          <a:p/>
          <a:p>
            <a:r>
              <a:t>でも、その情報が分散しているがゆえに、自分が本当に合った窓口にたどり着きにくい。</a:t>
            </a:r>
          </a:p>
          <a:p/>
          <a:p>
            <a:r>
              <a:t>たとえば、仕事のストレスが原因で心の不調を感じている人がいても、</a:t>
            </a:r>
          </a:p>
          <a:p>
            <a:r>
              <a:t>まず就労相談なのか、心の相談なのか、区別がつかないことがあります。</a:t>
            </a:r>
          </a:p>
          <a:p/>
          <a:p>
            <a:r>
              <a:t>自分に合う窓口を判断する根拠が見えにくい、これが大きな課題です。</a:t>
            </a:r>
          </a:p>
          <a:p/>
          <a:p>
            <a:r>
              <a:t>結論から言うと、情報の不足ではなく「選べないこと」が課題なのです。</a:t>
            </a:r>
          </a:p>
          <a:p>
            <a:r>
              <a:t>情報はあるのに、どう选べばいいかわからない。そのギャップを埋めるのがココロナビです。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ココロナビは、気持ちの整理から次の行動までを一つにまとめたサービスです。</a:t>
            </a:r>
          </a:p>
          <a:p/>
          <a:p>
            <a:r>
              <a:t>主な機能を3つご紹介します。</a:t>
            </a:r>
          </a:p>
          <a:p/>
          <a:p>
            <a:r>
              <a:t>1つ目はAI面接練習です。</a:t>
            </a:r>
          </a:p>
          <a:p>
            <a:r>
              <a:t>職種に応じた質問を生成し、回答に対するフィードバックを得ることができます。</a:t>
            </a:r>
          </a:p>
          <a:p>
            <a:r>
              <a:t>就労を目指す方が、面接前の不安を和らげる手助けをします。</a:t>
            </a:r>
          </a:p>
          <a:p/>
          <a:p>
            <a:r>
              <a:t>2つ目は、カウンセリング施設のマッチングです。</a:t>
            </a:r>
          </a:p>
          <a:p>
            <a:r>
              <a:t>AIに悩みの内容を伝えると、最適な施設を推荐してくれます。</a:t>
            </a:r>
          </a:p>
          <a:p/>
          <a:p>
            <a:r>
              <a:t>3つ目は、相談記録と振り返り機能です。</a:t>
            </a:r>
          </a:p>
          <a:p>
            <a:r>
              <a:t>過去の相談内容や気持ちの変化を記録し、振り返ることができます。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ここが一番重要なポイントです。</a:t>
            </a:r>
          </a:p>
          <a:p/>
          <a:p>
            <a:r>
              <a:t>ココロナビの推荐アルゴリズムは、AIのブラックボックスに頼りません。</a:t>
            </a:r>
          </a:p>
          <a:p>
            <a:r>
              <a:t>すべて説明できるルールで決めています。</a:t>
            </a:r>
          </a:p>
          <a:p/>
          <a:p>
            <a:r>
              <a:t>具体的には、スコアリングシステムを使っています。</a:t>
            </a:r>
          </a:p>
          <a:p/>
          <a:p>
            <a:r>
              <a:t>まず、悩みと支援カテゴリが一致する場合、60点。</a:t>
            </a:r>
          </a:p>
          <a:p>
            <a:r>
              <a:t>次に、選択した地域と施設の所在地が一致する場合、30点。</a:t>
            </a:r>
          </a:p>
          <a:p/>
          <a:p>
            <a:r>
              <a:t>このように、なぜこの施設が推荐されたのかを数値で明確に示しています。</a:t>
            </a:r>
          </a:p>
          <a:p/>
          <a:p>
            <a:r>
              <a:t>ユーザーは自分の目で、推荐の根拠を確認できます。</a:t>
            </a:r>
          </a:p>
          <a:p>
            <a:r>
              <a:t>これが「選べる」体験の実現に繋がります。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推荐された施設について、ユーザーは疑問に思うことがあるかもしれません。</a:t>
            </a:r>
          </a:p>
          <a:p/>
          <a:p>
            <a:r>
              <a:t>なぜこの施設なのか、本当に自分に合うのか。</a:t>
            </a:r>
          </a:p>
          <a:p/>
          <a:p>
            <a:r>
              <a:t>ココロナビでは、オープンデータの根拠を画面上で確認できるようにしています。</a:t>
            </a:r>
          </a:p>
          <a:p/>
          <a:p>
            <a:r>
              <a:t>具体的には、三点を常時表示します。</a:t>
            </a:r>
          </a:p>
          <a:p/>
          <a:p>
            <a:r>
              <a:t>まず、推荐理由を常時表示しています。</a:t>
            </a:r>
          </a:p>
          <a:p>
            <a:r>
              <a:t>次に、出典名と原典リンクも併記しています。</a:t>
            </a:r>
          </a:p>
          <a:p/>
          <a:p>
            <a:r>
              <a:t>データがどこから来たのか、ユーザー自身が確認できる。</a:t>
            </a:r>
          </a:p>
          <a:p/>
          <a:p>
            <a:r>
              <a:t>これにより、透明性のある recommendation を実現しています。</a:t>
            </a:r>
          </a:p>
          <a:p>
            <a:r>
              <a:t>オープンデータの価値を、末端のユーザーまで届ける仕組みです。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ココロナビが活用しているオープンデータについて説明します。</a:t>
            </a:r>
          </a:p>
          <a:p/>
          <a:p>
            <a:r>
              <a:t>公的データを「行動できる情報」に変えた——これが私たちのアプローチです。</a:t>
            </a:r>
          </a:p>
          <a:p/>
          <a:p>
            <a:r>
              <a:t>まず、東京都福祉局のデータを活用しています。</a:t>
            </a:r>
          </a:p>
          <a:p>
            <a:r>
              <a:t>女性相談、精神保健、社会福祉協議会、福祉人材など、さまざまな情報が含まれています。</a:t>
            </a:r>
          </a:p>
          <a:p/>
          <a:p>
            <a:r>
              <a:t>また、厚生労働省の「医療情報ネット」も活用しています。</a:t>
            </a:r>
          </a:p>
          <a:p>
            <a:r>
              <a:t>東京23区内の精神科・心療内科など、1,311件の施設データを取り込んでいます。</a:t>
            </a:r>
          </a:p>
          <a:p/>
          <a:p>
            <a:r>
              <a:t>これらのデータを組み合わせることで、ユーザーに最適な施設を推荐できるのです。</a:t>
            </a:r>
          </a:p>
          <a:p/>
          <a:p>
            <a:r>
              <a:t>単なるデータの一覧表示ではなく、ユーザーの悩みに応じた「行動できる情報」に変換しています。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</a:t>
            </a:r>
          </a:p>
          <a:p/>
          <a:p>
            <a:r>
              <a:t>ココロナビは、ひとりで抱え込まない心の安心を、東京から作りたいと思っています。</a:t>
            </a:r>
          </a:p>
          <a:p/>
          <a:p>
            <a:r>
              <a:t>三つの柱で実現します。</a:t>
            </a:r>
          </a:p>
          <a:p/>
          <a:p>
            <a:r>
              <a:t>第一に、AIで気持ちを整理する。</a:t>
            </a:r>
          </a:p>
          <a:p>
            <a:r>
              <a:t>面接練習や悩みの整理を通じて、自分の状態を言語化するお手伝いをします。</a:t>
            </a:r>
          </a:p>
          <a:p/>
          <a:p>
            <a:r>
              <a:t>第二に、公的支援を根拠付きで選ぶ。</a:t>
            </a:r>
          </a:p>
          <a:p>
            <a:r>
              <a:t>説明可能な推荐アルゴリズムで、ユーザーが納得して施設を選べる環境を作ります。</a:t>
            </a:r>
          </a:p>
          <a:p/>
          <a:p>
            <a:r>
              <a:t>第三に、必要なら医療機関へつながる。</a:t>
            </a:r>
          </a:p>
          <a:p>
            <a:r>
              <a:t>相談から実際の行動まで、一貫したサポートを提供します。</a:t>
            </a:r>
          </a:p>
          <a:p/>
          <a:p>
            <a:r>
              <a:t>オープンデータを、一覧表ではなく、迷っている人が行動を選べる体験へ。</a:t>
            </a:r>
          </a:p>
          <a:p>
            <a:r>
              <a:t>これがココロナビの目指す姿です。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最後に、私たちのチームについてご紹介します。</a:t>
            </a:r>
          </a:p>
          <a:p/>
          <a:p>
            <a:r>
              <a:t>多様な力で、社会課題に挑む——それが私たちの姿勢です。</a:t>
            </a:r>
          </a:p>
          <a:p/>
          <a:p>
            <a:r>
              <a:t>CWBJで繋がった非エンジニア中心のチームで、各自の専門性や強みを持つ多様なメンバー7名で構成されています。</a:t>
            </a:r>
          </a:p>
          <a:p/>
          <a:p>
            <a:r>
              <a:t>AIツールについては、Geminiだけに限定しません。</a:t>
            </a:r>
          </a:p>
          <a:p>
            <a:r>
              <a:t>Codex、Munus、そしてその他さまざまなAIを組み合わせて活用しました。</a:t>
            </a:r>
          </a:p>
          <a:p>
            <a:r>
              <a:t>それぞれのツールの得意分野を活かし、企画、設計、開発、デザインなど、</a:t>
            </a:r>
          </a:p>
          <a:p>
            <a:r>
              <a:t>チームメンバー一人ひとりが自分の役割で最大限に貢献できる環境を作りました。</a:t>
            </a:r>
          </a:p>
          <a:p/>
          <a:p>
            <a:r>
              <a:t>4つのプロダクトを同時に開発するという大きな挑戦でしたが、</a:t>
            </a:r>
          </a:p>
          <a:p>
            <a:r>
              <a:t>多様なAIツールと多様なメンバーの力で、それを実現しました。</a:t>
            </a:r>
          </a:p>
          <a:p/>
          <a:p>
            <a:r>
              <a:t>技術とデータ、デザインと企画——それぞれの専門性を活かしながら、</a:t>
            </a:r>
          </a:p>
          <a:p>
            <a:r>
              <a:t>ココロナビという一つのプロダクトに込めた想いを、ぜひご覧いただければ幸いです。</a:t>
            </a:r>
          </a:p>
          <a:p/>
          <a:p>
            <a:r>
              <a:t>ご清聴ありがとうございました。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CB342"/>
                </a:solidFill>
                <a:latin typeface="Meiryo"/>
              </a:defRPr>
            </a:pPr>
            <a:r>
              <a:t>都民のメンタルヘルスとカウンセリングを、公的支援につなぐ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D5016"/>
                </a:solidFill>
                <a:latin typeface="Meiryo"/>
              </a:defRPr>
            </a:pPr>
            <a:r>
              <a:t>不安や悩みを、ひとりで抱え込ませない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7CB342"/>
                </a:solidFill>
                <a:latin typeface="Meiryo"/>
              </a:defRPr>
            </a:pPr>
            <a:r>
              <a:t>ココロナビ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eiryo"/>
              </a:defRPr>
            </a:pPr>
            <a:r>
              <a:t>Kirari-TokyoNodeB ｜ 都知事杯オープンデータハッカソン2026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Meiryo"/>
              </a:defRPr>
            </a:pPr>
            <a:r>
              <a:t>必要な支援はある。でも、たどり着きにくい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058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2062480"/>
            <a:ext cx="182880" cy="18288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5016"/>
                </a:solidFill>
                <a:latin typeface="Meiryo"/>
              </a:defRPr>
            </a:pPr>
            <a:r>
              <a:t>仕事、生活、人間関係など様々な不安と悩み</a:t>
            </a:r>
          </a:p>
        </p:txBody>
      </p:sp>
      <p:sp>
        <p:nvSpPr>
          <p:cNvPr id="7" name="Oval 6"/>
          <p:cNvSpPr/>
          <p:nvPr/>
        </p:nvSpPr>
        <p:spPr>
          <a:xfrm>
            <a:off x="1645920" y="2794000"/>
            <a:ext cx="182880" cy="18288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2743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5016"/>
                </a:solidFill>
                <a:latin typeface="Meiryo"/>
              </a:defRPr>
            </a:pPr>
            <a:r>
              <a:t>就労、生活、心の相談先が分散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3525520"/>
            <a:ext cx="182880" cy="18288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3474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5016"/>
                </a:solidFill>
                <a:latin typeface="Meiryo"/>
              </a:defRPr>
            </a:pPr>
            <a:r>
              <a:t>自分に合う窓口を判断する根拠が見えにくい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572000"/>
            <a:ext cx="137160" cy="7315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572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D5016"/>
                </a:solidFill>
                <a:latin typeface="Meiryo"/>
              </a:defRPr>
            </a:pPr>
            <a:r>
              <a:t>結論：情報の不足ではなく「選べないこと」が課題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Meiryo"/>
              </a:defRPr>
            </a:pPr>
            <a:r>
              <a:t>気持ちの整理から、次の行動までを一つに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548640" cy="45720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2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eiryo"/>
              </a:defRPr>
            </a:pPr>
            <a:r>
              <a:t>AI面接練習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74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eiryo"/>
              </a:defRPr>
            </a:pPr>
            <a:r>
              <a:t>職種に応じた質問生成、回答フィードバック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68880"/>
            <a:ext cx="548640" cy="45720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4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eiryo"/>
              </a:defRPr>
            </a:pPr>
            <a:r>
              <a:t>気分チェック・AI傾聴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eiryo"/>
              </a:defRPr>
            </a:pPr>
            <a:r>
              <a:t>気分と状況の記録、共感的な応答と次の行動提案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291840"/>
            <a:ext cx="548640" cy="45720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66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eiryo"/>
              </a:defRPr>
            </a:pPr>
            <a:r>
              <a:t>状況別・地域別の支援推薦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20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eiryo"/>
              </a:defRPr>
            </a:pPr>
            <a:r>
              <a:t>東京都のオープンデータから適合度の高い候補を提示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114800"/>
            <a:ext cx="548640" cy="45720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89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eiryo"/>
              </a:defRPr>
            </a:pPr>
            <a:r>
              <a:t>精神科・心療内科検索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343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eiryo"/>
              </a:defRPr>
            </a:pPr>
            <a:r>
              <a:t>厚生労働省「医療情報ネット」から1,311件を検索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937760"/>
            <a:ext cx="548640" cy="45720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912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016"/>
                </a:solidFill>
                <a:latin typeface="Meiryo"/>
              </a:defRPr>
            </a:pPr>
            <a:r>
              <a:t>母親向け面接対策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66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eiryo"/>
              </a:defRPr>
            </a:pPr>
            <a:r>
              <a:t>女性特有の状況に応じた助言と面接準備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Meiryo"/>
              </a:defRPr>
            </a:pPr>
            <a:r>
              <a:t>推薦は、説明できるルールで決める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601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4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悩みと支援カテゴリが一致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722120"/>
            <a:ext cx="1645920" cy="45720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60点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9601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533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選択地域と施設所在地が一致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2727960"/>
            <a:ext cx="1645920" cy="45720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30点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657600"/>
            <a:ext cx="9601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75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相談方法の希望と一致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733800"/>
            <a:ext cx="1645920" cy="45720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15点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663440"/>
            <a:ext cx="96012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65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東京都全域を対象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4739640"/>
            <a:ext cx="1645920" cy="457200"/>
          </a:xfrm>
          <a:prstGeom prst="round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Meiryo"/>
              </a:defRPr>
            </a:pPr>
            <a:r>
              <a:t>12点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303520"/>
            <a:ext cx="137160" cy="7315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5303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eiryo"/>
              </a:defRPr>
            </a:pPr>
            <a:r>
              <a:t>生成AIに順位を委ねず、同じ入力には同じ結果を返す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Meiryo"/>
              </a:defRPr>
            </a:pPr>
            <a:r>
              <a:t>オープンデータの根拠を、画面上で確認できる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71320"/>
            <a:ext cx="365760" cy="36576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推薦理由を常時表示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402840"/>
            <a:ext cx="365760" cy="36576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377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出典名と原典リンクを表示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34360"/>
            <a:ext cx="365760" cy="36576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1089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データ更新日を表示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865880"/>
            <a:ext cx="365760" cy="365760"/>
          </a:xfrm>
          <a:prstGeom prst="round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医療機関はデータ基準日を表示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754880"/>
            <a:ext cx="137160" cy="7315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4754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016"/>
                </a:solidFill>
                <a:latin typeface="Meiryo"/>
              </a:defRPr>
            </a:pPr>
            <a:r>
              <a:t>便利さだけでなく、透明性と検証可能性を設計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5016"/>
                </a:solidFill>
                <a:latin typeface="Meiryo"/>
              </a:defRPr>
            </a:pPr>
            <a:r>
              <a:t>公的データを「行動できる情報」に変えた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601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74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eiryo"/>
              </a:defRPr>
            </a:pPr>
            <a:r>
              <a:t>東京都福祉局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52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Meiryo"/>
              </a:defRPr>
            </a:pPr>
            <a:r>
              <a:t>女性相談、精神保健、社会福祉協議会、福祉人材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017520"/>
            <a:ext cx="9601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1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5016"/>
                </a:solidFill>
                <a:latin typeface="Meiryo"/>
              </a:defRPr>
            </a:pPr>
            <a:r>
              <a:t>厚生労働省「医療情報ネット」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23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99"/>
                </a:solidFill>
                <a:latin typeface="Meiryo"/>
              </a:defRPr>
            </a:pPr>
            <a:r>
              <a:t>東京23区、精神科・心療内科など1,311件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B74D"/>
                </a:solidFill>
                <a:latin typeface="Meiryo"/>
              </a:defRPr>
            </a:pPr>
            <a:r>
              <a:t>データ基準日：医療情報ネット 2026年6月1日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D5016"/>
                </a:solidFill>
                <a:latin typeface="Meiryo"/>
              </a:defRPr>
            </a:pPr>
            <a:r>
              <a:t>ひとりで抱え込まない心の安心を、東京から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645920"/>
            <a:ext cx="8229600" cy="3200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60320" y="2062480"/>
            <a:ext cx="182880" cy="1828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2011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5016"/>
                </a:solidFill>
                <a:latin typeface="Meiryo"/>
              </a:defRPr>
            </a:pPr>
            <a:r>
              <a:t>AIで気持ちを整理する</a:t>
            </a:r>
          </a:p>
        </p:txBody>
      </p:sp>
      <p:sp>
        <p:nvSpPr>
          <p:cNvPr id="7" name="Oval 6"/>
          <p:cNvSpPr/>
          <p:nvPr/>
        </p:nvSpPr>
        <p:spPr>
          <a:xfrm>
            <a:off x="2560320" y="2702560"/>
            <a:ext cx="182880" cy="1828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5016"/>
                </a:solidFill>
                <a:latin typeface="Meiryo"/>
              </a:defRPr>
            </a:pPr>
            <a:r>
              <a:t>公的支援を根拠付きで選ぶ</a:t>
            </a:r>
          </a:p>
        </p:txBody>
      </p:sp>
      <p:sp>
        <p:nvSpPr>
          <p:cNvPr id="9" name="Oval 8"/>
          <p:cNvSpPr/>
          <p:nvPr/>
        </p:nvSpPr>
        <p:spPr>
          <a:xfrm>
            <a:off x="2560320" y="3342640"/>
            <a:ext cx="182880" cy="18288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3291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D5016"/>
                </a:solidFill>
                <a:latin typeface="Meiryo"/>
              </a:defRPr>
            </a:pPr>
            <a:r>
              <a:t>必要なら医療機関へつながる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5016"/>
                </a:solidFill>
                <a:latin typeface="Meiryo"/>
              </a:defRPr>
            </a:pPr>
            <a:r>
              <a:t>オープンデータを、一覧表ではなく、迷っている人が行動を選べる体験へ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CB342"/>
                </a:solidFill>
                <a:latin typeface="Meiryo"/>
              </a:defRPr>
            </a:pPr>
            <a:r>
              <a:t>https://restart-support-ai.pages.dev/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Meiryo"/>
              </a:defRPr>
            </a:pPr>
            <a:r>
              <a:t>Kirari-TokyoNodeB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6D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D5016"/>
                </a:solidFill>
                <a:latin typeface="Meiryo"/>
              </a:defRPr>
            </a:pPr>
            <a:r>
              <a:t>多様な力で、社会課題に挑む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B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1680" y="2062480"/>
            <a:ext cx="228600" cy="22860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CWBJで繋がった非エンジニアチーム</a:t>
            </a:r>
          </a:p>
        </p:txBody>
      </p:sp>
      <p:sp>
        <p:nvSpPr>
          <p:cNvPr id="7" name="Oval 6"/>
          <p:cNvSpPr/>
          <p:nvPr/>
        </p:nvSpPr>
        <p:spPr>
          <a:xfrm>
            <a:off x="2011680" y="2794000"/>
            <a:ext cx="228600" cy="22860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各自の専門性や強みを持つ多様なメンバー7名</a:t>
            </a:r>
          </a:p>
        </p:txBody>
      </p:sp>
      <p:sp>
        <p:nvSpPr>
          <p:cNvPr id="9" name="Oval 8"/>
          <p:cNvSpPr/>
          <p:nvPr/>
        </p:nvSpPr>
        <p:spPr>
          <a:xfrm>
            <a:off x="2011680" y="3525520"/>
            <a:ext cx="228600" cy="228600"/>
          </a:xfrm>
          <a:prstGeom prst="ellipse">
            <a:avLst/>
          </a:prstGeom>
          <a:solidFill>
            <a:srgbClr val="7C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AI（Gemini）を活用した開発</a:t>
            </a:r>
          </a:p>
        </p:txBody>
      </p:sp>
      <p:sp>
        <p:nvSpPr>
          <p:cNvPr id="11" name="Oval 10"/>
          <p:cNvSpPr/>
          <p:nvPr/>
        </p:nvSpPr>
        <p:spPr>
          <a:xfrm>
            <a:off x="2011680" y="4257040"/>
            <a:ext cx="228600" cy="228600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D5016"/>
                </a:solidFill>
                <a:latin typeface="Meiryo"/>
              </a:defRPr>
            </a:pPr>
            <a:r>
              <a:t>4つのプロダクトを同時に開発する挑戦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5016"/>
                </a:solidFill>
                <a:latin typeface="Meiryo"/>
              </a:defRPr>
            </a:pPr>
            <a:r>
              <a:t>Kirari-TokyoNodeB（ｷﾗﾘﾄｰｷｮｰﾉｰﾄﾞﾋﾞｰ）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